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53224-CFFF-4B9C-8544-843D7CBC17F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1293EF-BD67-44B9-8EE5-B7F4ADF6CF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Setup:</a:t>
          </a:r>
          <a:endParaRPr lang="en-US"/>
        </a:p>
      </dgm:t>
    </dgm:pt>
    <dgm:pt modelId="{1169D7E0-626A-4B27-BC56-3E20D752B91E}" type="parTrans" cxnId="{6547BBAD-76BB-40FC-96AD-4CBA7E1D644F}">
      <dgm:prSet/>
      <dgm:spPr/>
      <dgm:t>
        <a:bodyPr/>
        <a:lstStyle/>
        <a:p>
          <a:endParaRPr lang="en-US"/>
        </a:p>
      </dgm:t>
    </dgm:pt>
    <dgm:pt modelId="{1BBF5328-9E9B-4620-8894-1DCB6B19F0FE}" type="sibTrans" cxnId="{6547BBAD-76BB-40FC-96AD-4CBA7E1D644F}">
      <dgm:prSet/>
      <dgm:spPr/>
      <dgm:t>
        <a:bodyPr/>
        <a:lstStyle/>
        <a:p>
          <a:endParaRPr lang="en-US"/>
        </a:p>
      </dgm:t>
    </dgm:pt>
    <dgm:pt modelId="{DC494B3C-DB12-4EA7-ABB4-19ED78F16F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Hardware:</a:t>
          </a:r>
          <a:r>
            <a:rPr lang="en-US"/>
            <a:t> P100 GPU.</a:t>
          </a:r>
        </a:p>
      </dgm:t>
    </dgm:pt>
    <dgm:pt modelId="{76B8C51E-1D5F-4C56-82BA-ADB425761CE7}" type="parTrans" cxnId="{EB7F3275-9B8B-4FF2-A48B-9414CEDD54BF}">
      <dgm:prSet/>
      <dgm:spPr/>
      <dgm:t>
        <a:bodyPr/>
        <a:lstStyle/>
        <a:p>
          <a:endParaRPr lang="en-US"/>
        </a:p>
      </dgm:t>
    </dgm:pt>
    <dgm:pt modelId="{71B53F97-7F64-4F8E-8047-09989103C9F6}" type="sibTrans" cxnId="{EB7F3275-9B8B-4FF2-A48B-9414CEDD54BF}">
      <dgm:prSet/>
      <dgm:spPr/>
      <dgm:t>
        <a:bodyPr/>
        <a:lstStyle/>
        <a:p>
          <a:endParaRPr lang="en-US"/>
        </a:p>
      </dgm:t>
    </dgm:pt>
    <dgm:pt modelId="{60B99946-7A36-4884-A8AA-7C788E1F7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Duration:</a:t>
          </a:r>
          <a:r>
            <a:rPr lang="en-US"/>
            <a:t> 50 Epochs.</a:t>
          </a:r>
        </a:p>
      </dgm:t>
    </dgm:pt>
    <dgm:pt modelId="{3A0F9EB1-F9A5-4F1E-B2B4-3CF8670C4BAB}" type="parTrans" cxnId="{B3FBD7CE-94AA-4860-8366-ABEB5C096B77}">
      <dgm:prSet/>
      <dgm:spPr/>
      <dgm:t>
        <a:bodyPr/>
        <a:lstStyle/>
        <a:p>
          <a:endParaRPr lang="en-US"/>
        </a:p>
      </dgm:t>
    </dgm:pt>
    <dgm:pt modelId="{0E38A066-48F9-4D37-81A5-E44A83AF2104}" type="sibTrans" cxnId="{B3FBD7CE-94AA-4860-8366-ABEB5C096B77}">
      <dgm:prSet/>
      <dgm:spPr/>
      <dgm:t>
        <a:bodyPr/>
        <a:lstStyle/>
        <a:p>
          <a:endParaRPr lang="en-US"/>
        </a:p>
      </dgm:t>
    </dgm:pt>
    <dgm:pt modelId="{4ABDDAC5-95F4-4046-8E0D-61037FB04A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Batch Size:</a:t>
          </a:r>
          <a:r>
            <a:rPr lang="en-US"/>
            <a:t> 32 Images.</a:t>
          </a:r>
        </a:p>
      </dgm:t>
    </dgm:pt>
    <dgm:pt modelId="{90B1FAF3-D6C3-48B3-8BCA-4C2C0E15A3F2}" type="parTrans" cxnId="{B197BC46-3426-4A3A-96D3-4220CD514002}">
      <dgm:prSet/>
      <dgm:spPr/>
      <dgm:t>
        <a:bodyPr/>
        <a:lstStyle/>
        <a:p>
          <a:endParaRPr lang="en-US"/>
        </a:p>
      </dgm:t>
    </dgm:pt>
    <dgm:pt modelId="{54D9C094-371C-4C15-AC05-7F5F42378230}" type="sibTrans" cxnId="{B197BC46-3426-4A3A-96D3-4220CD514002}">
      <dgm:prSet/>
      <dgm:spPr/>
      <dgm:t>
        <a:bodyPr/>
        <a:lstStyle/>
        <a:p>
          <a:endParaRPr lang="en-US"/>
        </a:p>
      </dgm:t>
    </dgm:pt>
    <dgm:pt modelId="{B78F0F9B-3E33-4002-8255-72FCA53EA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Loss Function:</a:t>
          </a:r>
          <a:endParaRPr lang="en-US"/>
        </a:p>
      </dgm:t>
    </dgm:pt>
    <dgm:pt modelId="{02D9C85C-A8AB-4A69-A635-0584B985BE88}" type="parTrans" cxnId="{DE0A1BFF-6AD3-4BC0-90E4-C69D9A5BB9A3}">
      <dgm:prSet/>
      <dgm:spPr/>
      <dgm:t>
        <a:bodyPr/>
        <a:lstStyle/>
        <a:p>
          <a:endParaRPr lang="en-US"/>
        </a:p>
      </dgm:t>
    </dgm:pt>
    <dgm:pt modelId="{A489C769-E66C-4D4D-83D5-CE8B027D88E6}" type="sibTrans" cxnId="{DE0A1BFF-6AD3-4BC0-90E4-C69D9A5BB9A3}">
      <dgm:prSet/>
      <dgm:spPr/>
      <dgm:t>
        <a:bodyPr/>
        <a:lstStyle/>
        <a:p>
          <a:endParaRPr lang="en-US"/>
        </a:p>
      </dgm:t>
    </dgm:pt>
    <dgm:pt modelId="{B086C3D6-A7FE-4882-914C-DBD3D65689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Dice Loss + Binary Cross Entropy (BCE)</a:t>
          </a:r>
          <a:r>
            <a:rPr lang="en-US"/>
            <a:t>.</a:t>
          </a:r>
        </a:p>
      </dgm:t>
    </dgm:pt>
    <dgm:pt modelId="{96B9EF1C-3024-4298-997E-16E30BA48C47}" type="parTrans" cxnId="{D67FB5E3-94AC-4AED-9977-620C1E477300}">
      <dgm:prSet/>
      <dgm:spPr/>
      <dgm:t>
        <a:bodyPr/>
        <a:lstStyle/>
        <a:p>
          <a:endParaRPr lang="en-US"/>
        </a:p>
      </dgm:t>
    </dgm:pt>
    <dgm:pt modelId="{579C658B-9029-45B5-8B7E-766BC09E7B65}" type="sibTrans" cxnId="{D67FB5E3-94AC-4AED-9977-620C1E477300}">
      <dgm:prSet/>
      <dgm:spPr/>
      <dgm:t>
        <a:bodyPr/>
        <a:lstStyle/>
        <a:p>
          <a:endParaRPr lang="en-US"/>
        </a:p>
      </dgm:t>
    </dgm:pt>
    <dgm:pt modelId="{494DCEF5-C4A2-4C30-B8C9-2E7C3A159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Why?</a:t>
          </a:r>
          <a:r>
            <a:rPr lang="en-US"/>
            <a:t> Dice Loss prevents the model from ignoring small rivers (Class Imbalance).</a:t>
          </a:r>
        </a:p>
      </dgm:t>
    </dgm:pt>
    <dgm:pt modelId="{B80C369F-8B70-4383-A823-6BDB48B10CF1}" type="parTrans" cxnId="{D83B5AAB-F914-48B4-82DE-3659DA729C92}">
      <dgm:prSet/>
      <dgm:spPr/>
      <dgm:t>
        <a:bodyPr/>
        <a:lstStyle/>
        <a:p>
          <a:endParaRPr lang="en-US"/>
        </a:p>
      </dgm:t>
    </dgm:pt>
    <dgm:pt modelId="{AC58AB8F-2C9F-4123-BC51-913D3244450D}" type="sibTrans" cxnId="{D83B5AAB-F914-48B4-82DE-3659DA729C92}">
      <dgm:prSet/>
      <dgm:spPr/>
      <dgm:t>
        <a:bodyPr/>
        <a:lstStyle/>
        <a:p>
          <a:endParaRPr lang="en-US"/>
        </a:p>
      </dgm:t>
    </dgm:pt>
    <dgm:pt modelId="{5EE6A2A0-6243-45B3-A83B-D17F692450F6}" type="pres">
      <dgm:prSet presAssocID="{89353224-CFFF-4B9C-8544-843D7CBC17F2}" presName="root" presStyleCnt="0">
        <dgm:presLayoutVars>
          <dgm:dir/>
          <dgm:resizeHandles val="exact"/>
        </dgm:presLayoutVars>
      </dgm:prSet>
      <dgm:spPr/>
    </dgm:pt>
    <dgm:pt modelId="{4339639D-4609-42CE-AB01-FE46F6068635}" type="pres">
      <dgm:prSet presAssocID="{D61293EF-BD67-44B9-8EE5-B7F4ADF6CF87}" presName="compNode" presStyleCnt="0"/>
      <dgm:spPr/>
    </dgm:pt>
    <dgm:pt modelId="{B46C5F84-6CC0-46F3-9F00-C9368F0B27EC}" type="pres">
      <dgm:prSet presAssocID="{D61293EF-BD67-44B9-8EE5-B7F4ADF6CF8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0897F1F-5A30-46CF-84BE-DE98D5FFC573}" type="pres">
      <dgm:prSet presAssocID="{D61293EF-BD67-44B9-8EE5-B7F4ADF6CF87}" presName="spaceRect" presStyleCnt="0"/>
      <dgm:spPr/>
    </dgm:pt>
    <dgm:pt modelId="{3E912186-C7BC-4313-99D3-C39676ACC53A}" type="pres">
      <dgm:prSet presAssocID="{D61293EF-BD67-44B9-8EE5-B7F4ADF6CF87}" presName="textRect" presStyleLbl="revTx" presStyleIdx="0" presStyleCnt="7">
        <dgm:presLayoutVars>
          <dgm:chMax val="1"/>
          <dgm:chPref val="1"/>
        </dgm:presLayoutVars>
      </dgm:prSet>
      <dgm:spPr/>
    </dgm:pt>
    <dgm:pt modelId="{E2385DA2-4828-4151-9500-C605FD6A7126}" type="pres">
      <dgm:prSet presAssocID="{1BBF5328-9E9B-4620-8894-1DCB6B19F0FE}" presName="sibTrans" presStyleCnt="0"/>
      <dgm:spPr/>
    </dgm:pt>
    <dgm:pt modelId="{9F94F589-1460-4731-81D3-96FBFEF5FA1B}" type="pres">
      <dgm:prSet presAssocID="{DC494B3C-DB12-4EA7-ABB4-19ED78F16FD5}" presName="compNode" presStyleCnt="0"/>
      <dgm:spPr/>
    </dgm:pt>
    <dgm:pt modelId="{BA52A399-61EA-4715-905C-8FD54AF6E4F3}" type="pres">
      <dgm:prSet presAssocID="{DC494B3C-DB12-4EA7-ABB4-19ED78F16FD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8A5B923-C004-49C8-BEC3-EE0305D42D38}" type="pres">
      <dgm:prSet presAssocID="{DC494B3C-DB12-4EA7-ABB4-19ED78F16FD5}" presName="spaceRect" presStyleCnt="0"/>
      <dgm:spPr/>
    </dgm:pt>
    <dgm:pt modelId="{F6493953-96A1-44CF-B633-45C780447494}" type="pres">
      <dgm:prSet presAssocID="{DC494B3C-DB12-4EA7-ABB4-19ED78F16FD5}" presName="textRect" presStyleLbl="revTx" presStyleIdx="1" presStyleCnt="7">
        <dgm:presLayoutVars>
          <dgm:chMax val="1"/>
          <dgm:chPref val="1"/>
        </dgm:presLayoutVars>
      </dgm:prSet>
      <dgm:spPr/>
    </dgm:pt>
    <dgm:pt modelId="{8F1219D1-D4F0-4E81-9697-343650364A54}" type="pres">
      <dgm:prSet presAssocID="{71B53F97-7F64-4F8E-8047-09989103C9F6}" presName="sibTrans" presStyleCnt="0"/>
      <dgm:spPr/>
    </dgm:pt>
    <dgm:pt modelId="{F1B33587-14E1-451A-91B1-ED4D198AA580}" type="pres">
      <dgm:prSet presAssocID="{60B99946-7A36-4884-A8AA-7C788E1F776F}" presName="compNode" presStyleCnt="0"/>
      <dgm:spPr/>
    </dgm:pt>
    <dgm:pt modelId="{4831684E-8295-44B1-9818-106C423A3DCA}" type="pres">
      <dgm:prSet presAssocID="{60B99946-7A36-4884-A8AA-7C788E1F776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A22C3C08-026D-4197-A985-02CD37C0EC06}" type="pres">
      <dgm:prSet presAssocID="{60B99946-7A36-4884-A8AA-7C788E1F776F}" presName="spaceRect" presStyleCnt="0"/>
      <dgm:spPr/>
    </dgm:pt>
    <dgm:pt modelId="{6E5ED03B-EF68-4C5F-8DF3-AA2B7D85B7C0}" type="pres">
      <dgm:prSet presAssocID="{60B99946-7A36-4884-A8AA-7C788E1F776F}" presName="textRect" presStyleLbl="revTx" presStyleIdx="2" presStyleCnt="7">
        <dgm:presLayoutVars>
          <dgm:chMax val="1"/>
          <dgm:chPref val="1"/>
        </dgm:presLayoutVars>
      </dgm:prSet>
      <dgm:spPr/>
    </dgm:pt>
    <dgm:pt modelId="{80492FC7-FF49-43FD-9DD4-756517F800A0}" type="pres">
      <dgm:prSet presAssocID="{0E38A066-48F9-4D37-81A5-E44A83AF2104}" presName="sibTrans" presStyleCnt="0"/>
      <dgm:spPr/>
    </dgm:pt>
    <dgm:pt modelId="{54EB6462-D4E2-4252-A100-49D40943C5FB}" type="pres">
      <dgm:prSet presAssocID="{4ABDDAC5-95F4-4046-8E0D-61037FB04A21}" presName="compNode" presStyleCnt="0"/>
      <dgm:spPr/>
    </dgm:pt>
    <dgm:pt modelId="{A647353D-3B4A-4539-8410-1B44311C4B38}" type="pres">
      <dgm:prSet presAssocID="{4ABDDAC5-95F4-4046-8E0D-61037FB04A2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E9E0B3F1-A153-4525-B4BA-74B5B6752309}" type="pres">
      <dgm:prSet presAssocID="{4ABDDAC5-95F4-4046-8E0D-61037FB04A21}" presName="spaceRect" presStyleCnt="0"/>
      <dgm:spPr/>
    </dgm:pt>
    <dgm:pt modelId="{D9589E63-45A4-438F-98BE-8A2003A62376}" type="pres">
      <dgm:prSet presAssocID="{4ABDDAC5-95F4-4046-8E0D-61037FB04A21}" presName="textRect" presStyleLbl="revTx" presStyleIdx="3" presStyleCnt="7">
        <dgm:presLayoutVars>
          <dgm:chMax val="1"/>
          <dgm:chPref val="1"/>
        </dgm:presLayoutVars>
      </dgm:prSet>
      <dgm:spPr/>
    </dgm:pt>
    <dgm:pt modelId="{877BDB72-5371-4699-8CFF-E84F33E52481}" type="pres">
      <dgm:prSet presAssocID="{54D9C094-371C-4C15-AC05-7F5F42378230}" presName="sibTrans" presStyleCnt="0"/>
      <dgm:spPr/>
    </dgm:pt>
    <dgm:pt modelId="{FA9D16CB-0E16-4FCB-B98A-FAF12CC25276}" type="pres">
      <dgm:prSet presAssocID="{B78F0F9B-3E33-4002-8255-72FCA53EA66A}" presName="compNode" presStyleCnt="0"/>
      <dgm:spPr/>
    </dgm:pt>
    <dgm:pt modelId="{46850646-A6E8-466C-B62D-3ADFE67D40E1}" type="pres">
      <dgm:prSet presAssocID="{B78F0F9B-3E33-4002-8255-72FCA53EA66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5C9D6AC-DD5C-460E-9E2B-46A4224D076D}" type="pres">
      <dgm:prSet presAssocID="{B78F0F9B-3E33-4002-8255-72FCA53EA66A}" presName="spaceRect" presStyleCnt="0"/>
      <dgm:spPr/>
    </dgm:pt>
    <dgm:pt modelId="{7714319F-90CA-4404-AB7F-EE8D5CC6AEE7}" type="pres">
      <dgm:prSet presAssocID="{B78F0F9B-3E33-4002-8255-72FCA53EA66A}" presName="textRect" presStyleLbl="revTx" presStyleIdx="4" presStyleCnt="7">
        <dgm:presLayoutVars>
          <dgm:chMax val="1"/>
          <dgm:chPref val="1"/>
        </dgm:presLayoutVars>
      </dgm:prSet>
      <dgm:spPr/>
    </dgm:pt>
    <dgm:pt modelId="{C50178B9-136D-4280-A60C-0F62389ED918}" type="pres">
      <dgm:prSet presAssocID="{A489C769-E66C-4D4D-83D5-CE8B027D88E6}" presName="sibTrans" presStyleCnt="0"/>
      <dgm:spPr/>
    </dgm:pt>
    <dgm:pt modelId="{7D6848F0-C0BD-4634-978C-DE2117292FE1}" type="pres">
      <dgm:prSet presAssocID="{B086C3D6-A7FE-4882-914C-DBD3D656892A}" presName="compNode" presStyleCnt="0"/>
      <dgm:spPr/>
    </dgm:pt>
    <dgm:pt modelId="{5A23FB73-C737-4A5F-98AF-7A79025A3905}" type="pres">
      <dgm:prSet presAssocID="{B086C3D6-A7FE-4882-914C-DBD3D656892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DDDF2D0-7DC0-4BCE-878C-706D549DA54C}" type="pres">
      <dgm:prSet presAssocID="{B086C3D6-A7FE-4882-914C-DBD3D656892A}" presName="spaceRect" presStyleCnt="0"/>
      <dgm:spPr/>
    </dgm:pt>
    <dgm:pt modelId="{9FEC6039-385E-4FDB-87C2-95F25B7A268F}" type="pres">
      <dgm:prSet presAssocID="{B086C3D6-A7FE-4882-914C-DBD3D656892A}" presName="textRect" presStyleLbl="revTx" presStyleIdx="5" presStyleCnt="7">
        <dgm:presLayoutVars>
          <dgm:chMax val="1"/>
          <dgm:chPref val="1"/>
        </dgm:presLayoutVars>
      </dgm:prSet>
      <dgm:spPr/>
    </dgm:pt>
    <dgm:pt modelId="{A2986BCA-6688-48E8-8961-BC5A2C267AF0}" type="pres">
      <dgm:prSet presAssocID="{579C658B-9029-45B5-8B7E-766BC09E7B65}" presName="sibTrans" presStyleCnt="0"/>
      <dgm:spPr/>
    </dgm:pt>
    <dgm:pt modelId="{897ABF80-D93A-4306-9544-2BF397BD3EB3}" type="pres">
      <dgm:prSet presAssocID="{494DCEF5-C4A2-4C30-B8C9-2E7C3A15900D}" presName="compNode" presStyleCnt="0"/>
      <dgm:spPr/>
    </dgm:pt>
    <dgm:pt modelId="{388B5DE2-4121-41A0-A6EA-5568AEC38EBD}" type="pres">
      <dgm:prSet presAssocID="{494DCEF5-C4A2-4C30-B8C9-2E7C3A15900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5C9A094-387C-4779-AF4E-B5394388D186}" type="pres">
      <dgm:prSet presAssocID="{494DCEF5-C4A2-4C30-B8C9-2E7C3A15900D}" presName="spaceRect" presStyleCnt="0"/>
      <dgm:spPr/>
    </dgm:pt>
    <dgm:pt modelId="{340D71EE-2598-4A77-8494-0AA6D4D7D7C2}" type="pres">
      <dgm:prSet presAssocID="{494DCEF5-C4A2-4C30-B8C9-2E7C3A15900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99BD2101-6942-4651-84FF-7E1C66BAF1E6}" type="presOf" srcId="{DC494B3C-DB12-4EA7-ABB4-19ED78F16FD5}" destId="{F6493953-96A1-44CF-B633-45C780447494}" srcOrd="0" destOrd="0" presId="urn:microsoft.com/office/officeart/2018/2/layout/IconLabelList"/>
    <dgm:cxn modelId="{8A84642A-9903-44EA-9D2B-71DD0CF5BB78}" type="presOf" srcId="{4ABDDAC5-95F4-4046-8E0D-61037FB04A21}" destId="{D9589E63-45A4-438F-98BE-8A2003A62376}" srcOrd="0" destOrd="0" presId="urn:microsoft.com/office/officeart/2018/2/layout/IconLabelList"/>
    <dgm:cxn modelId="{A79F593F-BA7C-4064-8406-0B405281C455}" type="presOf" srcId="{B086C3D6-A7FE-4882-914C-DBD3D656892A}" destId="{9FEC6039-385E-4FDB-87C2-95F25B7A268F}" srcOrd="0" destOrd="0" presId="urn:microsoft.com/office/officeart/2018/2/layout/IconLabelList"/>
    <dgm:cxn modelId="{E437B542-97DD-43B8-9FB3-AB6B7CE812E9}" type="presOf" srcId="{B78F0F9B-3E33-4002-8255-72FCA53EA66A}" destId="{7714319F-90CA-4404-AB7F-EE8D5CC6AEE7}" srcOrd="0" destOrd="0" presId="urn:microsoft.com/office/officeart/2018/2/layout/IconLabelList"/>
    <dgm:cxn modelId="{2794EC64-4813-4D6E-A513-ADDA3FB5CBEE}" type="presOf" srcId="{60B99946-7A36-4884-A8AA-7C788E1F776F}" destId="{6E5ED03B-EF68-4C5F-8DF3-AA2B7D85B7C0}" srcOrd="0" destOrd="0" presId="urn:microsoft.com/office/officeart/2018/2/layout/IconLabelList"/>
    <dgm:cxn modelId="{B197BC46-3426-4A3A-96D3-4220CD514002}" srcId="{89353224-CFFF-4B9C-8544-843D7CBC17F2}" destId="{4ABDDAC5-95F4-4046-8E0D-61037FB04A21}" srcOrd="3" destOrd="0" parTransId="{90B1FAF3-D6C3-48B3-8BCA-4C2C0E15A3F2}" sibTransId="{54D9C094-371C-4C15-AC05-7F5F42378230}"/>
    <dgm:cxn modelId="{19E62373-5C4E-41DF-AC4E-E3CFA94F9DDE}" type="presOf" srcId="{89353224-CFFF-4B9C-8544-843D7CBC17F2}" destId="{5EE6A2A0-6243-45B3-A83B-D17F692450F6}" srcOrd="0" destOrd="0" presId="urn:microsoft.com/office/officeart/2018/2/layout/IconLabelList"/>
    <dgm:cxn modelId="{EB7F3275-9B8B-4FF2-A48B-9414CEDD54BF}" srcId="{89353224-CFFF-4B9C-8544-843D7CBC17F2}" destId="{DC494B3C-DB12-4EA7-ABB4-19ED78F16FD5}" srcOrd="1" destOrd="0" parTransId="{76B8C51E-1D5F-4C56-82BA-ADB425761CE7}" sibTransId="{71B53F97-7F64-4F8E-8047-09989103C9F6}"/>
    <dgm:cxn modelId="{7E901495-7D36-45C7-83C2-6D527CEE9246}" type="presOf" srcId="{D61293EF-BD67-44B9-8EE5-B7F4ADF6CF87}" destId="{3E912186-C7BC-4313-99D3-C39676ACC53A}" srcOrd="0" destOrd="0" presId="urn:microsoft.com/office/officeart/2018/2/layout/IconLabelList"/>
    <dgm:cxn modelId="{D83B5AAB-F914-48B4-82DE-3659DA729C92}" srcId="{89353224-CFFF-4B9C-8544-843D7CBC17F2}" destId="{494DCEF5-C4A2-4C30-B8C9-2E7C3A15900D}" srcOrd="6" destOrd="0" parTransId="{B80C369F-8B70-4383-A823-6BDB48B10CF1}" sibTransId="{AC58AB8F-2C9F-4123-BC51-913D3244450D}"/>
    <dgm:cxn modelId="{6547BBAD-76BB-40FC-96AD-4CBA7E1D644F}" srcId="{89353224-CFFF-4B9C-8544-843D7CBC17F2}" destId="{D61293EF-BD67-44B9-8EE5-B7F4ADF6CF87}" srcOrd="0" destOrd="0" parTransId="{1169D7E0-626A-4B27-BC56-3E20D752B91E}" sibTransId="{1BBF5328-9E9B-4620-8894-1DCB6B19F0FE}"/>
    <dgm:cxn modelId="{B3FBD7CE-94AA-4860-8366-ABEB5C096B77}" srcId="{89353224-CFFF-4B9C-8544-843D7CBC17F2}" destId="{60B99946-7A36-4884-A8AA-7C788E1F776F}" srcOrd="2" destOrd="0" parTransId="{3A0F9EB1-F9A5-4F1E-B2B4-3CF8670C4BAB}" sibTransId="{0E38A066-48F9-4D37-81A5-E44A83AF2104}"/>
    <dgm:cxn modelId="{D67FB5E3-94AC-4AED-9977-620C1E477300}" srcId="{89353224-CFFF-4B9C-8544-843D7CBC17F2}" destId="{B086C3D6-A7FE-4882-914C-DBD3D656892A}" srcOrd="5" destOrd="0" parTransId="{96B9EF1C-3024-4298-997E-16E30BA48C47}" sibTransId="{579C658B-9029-45B5-8B7E-766BC09E7B65}"/>
    <dgm:cxn modelId="{2EC346FC-376E-4700-98CB-015F410E28B8}" type="presOf" srcId="{494DCEF5-C4A2-4C30-B8C9-2E7C3A15900D}" destId="{340D71EE-2598-4A77-8494-0AA6D4D7D7C2}" srcOrd="0" destOrd="0" presId="urn:microsoft.com/office/officeart/2018/2/layout/IconLabelList"/>
    <dgm:cxn modelId="{DE0A1BFF-6AD3-4BC0-90E4-C69D9A5BB9A3}" srcId="{89353224-CFFF-4B9C-8544-843D7CBC17F2}" destId="{B78F0F9B-3E33-4002-8255-72FCA53EA66A}" srcOrd="4" destOrd="0" parTransId="{02D9C85C-A8AB-4A69-A635-0584B985BE88}" sibTransId="{A489C769-E66C-4D4D-83D5-CE8B027D88E6}"/>
    <dgm:cxn modelId="{8E556347-3E1C-47A0-B6E8-0AF42A98B31E}" type="presParOf" srcId="{5EE6A2A0-6243-45B3-A83B-D17F692450F6}" destId="{4339639D-4609-42CE-AB01-FE46F6068635}" srcOrd="0" destOrd="0" presId="urn:microsoft.com/office/officeart/2018/2/layout/IconLabelList"/>
    <dgm:cxn modelId="{BB92F457-954A-44BF-9E4E-24295F614C51}" type="presParOf" srcId="{4339639D-4609-42CE-AB01-FE46F6068635}" destId="{B46C5F84-6CC0-46F3-9F00-C9368F0B27EC}" srcOrd="0" destOrd="0" presId="urn:microsoft.com/office/officeart/2018/2/layout/IconLabelList"/>
    <dgm:cxn modelId="{ED55F052-720C-4E3D-9B0B-6B4C5BA53667}" type="presParOf" srcId="{4339639D-4609-42CE-AB01-FE46F6068635}" destId="{70897F1F-5A30-46CF-84BE-DE98D5FFC573}" srcOrd="1" destOrd="0" presId="urn:microsoft.com/office/officeart/2018/2/layout/IconLabelList"/>
    <dgm:cxn modelId="{2FC3B22F-1AA8-4154-B68D-5A76ADBA788F}" type="presParOf" srcId="{4339639D-4609-42CE-AB01-FE46F6068635}" destId="{3E912186-C7BC-4313-99D3-C39676ACC53A}" srcOrd="2" destOrd="0" presId="urn:microsoft.com/office/officeart/2018/2/layout/IconLabelList"/>
    <dgm:cxn modelId="{E27C5391-9030-47E5-AB18-47D1DED0DEF5}" type="presParOf" srcId="{5EE6A2A0-6243-45B3-A83B-D17F692450F6}" destId="{E2385DA2-4828-4151-9500-C605FD6A7126}" srcOrd="1" destOrd="0" presId="urn:microsoft.com/office/officeart/2018/2/layout/IconLabelList"/>
    <dgm:cxn modelId="{BAD53B80-AB4B-49BD-B757-8DD991351EC0}" type="presParOf" srcId="{5EE6A2A0-6243-45B3-A83B-D17F692450F6}" destId="{9F94F589-1460-4731-81D3-96FBFEF5FA1B}" srcOrd="2" destOrd="0" presId="urn:microsoft.com/office/officeart/2018/2/layout/IconLabelList"/>
    <dgm:cxn modelId="{1A8D73DF-D359-4425-8349-4E2D7AE69F4A}" type="presParOf" srcId="{9F94F589-1460-4731-81D3-96FBFEF5FA1B}" destId="{BA52A399-61EA-4715-905C-8FD54AF6E4F3}" srcOrd="0" destOrd="0" presId="urn:microsoft.com/office/officeart/2018/2/layout/IconLabelList"/>
    <dgm:cxn modelId="{CA2E5643-7E18-41C4-92A2-564B34630ECD}" type="presParOf" srcId="{9F94F589-1460-4731-81D3-96FBFEF5FA1B}" destId="{58A5B923-C004-49C8-BEC3-EE0305D42D38}" srcOrd="1" destOrd="0" presId="urn:microsoft.com/office/officeart/2018/2/layout/IconLabelList"/>
    <dgm:cxn modelId="{E78FC281-22F2-4CAC-98C4-86B37B225381}" type="presParOf" srcId="{9F94F589-1460-4731-81D3-96FBFEF5FA1B}" destId="{F6493953-96A1-44CF-B633-45C780447494}" srcOrd="2" destOrd="0" presId="urn:microsoft.com/office/officeart/2018/2/layout/IconLabelList"/>
    <dgm:cxn modelId="{87B994CB-333F-4A46-96C5-06D56A5D656E}" type="presParOf" srcId="{5EE6A2A0-6243-45B3-A83B-D17F692450F6}" destId="{8F1219D1-D4F0-4E81-9697-343650364A54}" srcOrd="3" destOrd="0" presId="urn:microsoft.com/office/officeart/2018/2/layout/IconLabelList"/>
    <dgm:cxn modelId="{4DBCB350-44F5-483A-AADC-EE4746CBE691}" type="presParOf" srcId="{5EE6A2A0-6243-45B3-A83B-D17F692450F6}" destId="{F1B33587-14E1-451A-91B1-ED4D198AA580}" srcOrd="4" destOrd="0" presId="urn:microsoft.com/office/officeart/2018/2/layout/IconLabelList"/>
    <dgm:cxn modelId="{5FA3553D-EE9F-47AC-A519-881064F6A1F7}" type="presParOf" srcId="{F1B33587-14E1-451A-91B1-ED4D198AA580}" destId="{4831684E-8295-44B1-9818-106C423A3DCA}" srcOrd="0" destOrd="0" presId="urn:microsoft.com/office/officeart/2018/2/layout/IconLabelList"/>
    <dgm:cxn modelId="{E8308672-1F72-4E3C-803F-D98D18B9CBB9}" type="presParOf" srcId="{F1B33587-14E1-451A-91B1-ED4D198AA580}" destId="{A22C3C08-026D-4197-A985-02CD37C0EC06}" srcOrd="1" destOrd="0" presId="urn:microsoft.com/office/officeart/2018/2/layout/IconLabelList"/>
    <dgm:cxn modelId="{D3FB105E-170A-4F8E-A58A-59CD002BBF0B}" type="presParOf" srcId="{F1B33587-14E1-451A-91B1-ED4D198AA580}" destId="{6E5ED03B-EF68-4C5F-8DF3-AA2B7D85B7C0}" srcOrd="2" destOrd="0" presId="urn:microsoft.com/office/officeart/2018/2/layout/IconLabelList"/>
    <dgm:cxn modelId="{517C96F6-F59B-45FC-A86D-7B7AA3C163CD}" type="presParOf" srcId="{5EE6A2A0-6243-45B3-A83B-D17F692450F6}" destId="{80492FC7-FF49-43FD-9DD4-756517F800A0}" srcOrd="5" destOrd="0" presId="urn:microsoft.com/office/officeart/2018/2/layout/IconLabelList"/>
    <dgm:cxn modelId="{68B60978-9D90-4AFF-B259-1BB36CDA5998}" type="presParOf" srcId="{5EE6A2A0-6243-45B3-A83B-D17F692450F6}" destId="{54EB6462-D4E2-4252-A100-49D40943C5FB}" srcOrd="6" destOrd="0" presId="urn:microsoft.com/office/officeart/2018/2/layout/IconLabelList"/>
    <dgm:cxn modelId="{B9C27FC5-8987-4FBF-9CB0-2BC1F60A1B9E}" type="presParOf" srcId="{54EB6462-D4E2-4252-A100-49D40943C5FB}" destId="{A647353D-3B4A-4539-8410-1B44311C4B38}" srcOrd="0" destOrd="0" presId="urn:microsoft.com/office/officeart/2018/2/layout/IconLabelList"/>
    <dgm:cxn modelId="{3EC872A4-030D-49B2-B358-AF5073F74009}" type="presParOf" srcId="{54EB6462-D4E2-4252-A100-49D40943C5FB}" destId="{E9E0B3F1-A153-4525-B4BA-74B5B6752309}" srcOrd="1" destOrd="0" presId="urn:microsoft.com/office/officeart/2018/2/layout/IconLabelList"/>
    <dgm:cxn modelId="{E0FC255C-AD89-42FF-A3EE-E083ADDC5E8B}" type="presParOf" srcId="{54EB6462-D4E2-4252-A100-49D40943C5FB}" destId="{D9589E63-45A4-438F-98BE-8A2003A62376}" srcOrd="2" destOrd="0" presId="urn:microsoft.com/office/officeart/2018/2/layout/IconLabelList"/>
    <dgm:cxn modelId="{F2736023-C019-4F0C-9984-41C8A102E6BE}" type="presParOf" srcId="{5EE6A2A0-6243-45B3-A83B-D17F692450F6}" destId="{877BDB72-5371-4699-8CFF-E84F33E52481}" srcOrd="7" destOrd="0" presId="urn:microsoft.com/office/officeart/2018/2/layout/IconLabelList"/>
    <dgm:cxn modelId="{B22C971A-E5F4-4381-829C-2732E719A7BD}" type="presParOf" srcId="{5EE6A2A0-6243-45B3-A83B-D17F692450F6}" destId="{FA9D16CB-0E16-4FCB-B98A-FAF12CC25276}" srcOrd="8" destOrd="0" presId="urn:microsoft.com/office/officeart/2018/2/layout/IconLabelList"/>
    <dgm:cxn modelId="{9F5B3B4B-A366-4B39-B9B6-BD8184135F71}" type="presParOf" srcId="{FA9D16CB-0E16-4FCB-B98A-FAF12CC25276}" destId="{46850646-A6E8-466C-B62D-3ADFE67D40E1}" srcOrd="0" destOrd="0" presId="urn:microsoft.com/office/officeart/2018/2/layout/IconLabelList"/>
    <dgm:cxn modelId="{CD13E337-1C91-4FD2-99CC-745CDA3B2B8B}" type="presParOf" srcId="{FA9D16CB-0E16-4FCB-B98A-FAF12CC25276}" destId="{35C9D6AC-DD5C-460E-9E2B-46A4224D076D}" srcOrd="1" destOrd="0" presId="urn:microsoft.com/office/officeart/2018/2/layout/IconLabelList"/>
    <dgm:cxn modelId="{B2D4031D-8326-433E-BBE2-619B69DD76A5}" type="presParOf" srcId="{FA9D16CB-0E16-4FCB-B98A-FAF12CC25276}" destId="{7714319F-90CA-4404-AB7F-EE8D5CC6AEE7}" srcOrd="2" destOrd="0" presId="urn:microsoft.com/office/officeart/2018/2/layout/IconLabelList"/>
    <dgm:cxn modelId="{AD6EF535-75D9-45D2-B612-AAE2EACCF66B}" type="presParOf" srcId="{5EE6A2A0-6243-45B3-A83B-D17F692450F6}" destId="{C50178B9-136D-4280-A60C-0F62389ED918}" srcOrd="9" destOrd="0" presId="urn:microsoft.com/office/officeart/2018/2/layout/IconLabelList"/>
    <dgm:cxn modelId="{27FA9DE5-3C1C-4D8D-9EDB-FEED49E5F77C}" type="presParOf" srcId="{5EE6A2A0-6243-45B3-A83B-D17F692450F6}" destId="{7D6848F0-C0BD-4634-978C-DE2117292FE1}" srcOrd="10" destOrd="0" presId="urn:microsoft.com/office/officeart/2018/2/layout/IconLabelList"/>
    <dgm:cxn modelId="{E6BA0F53-6317-4D5D-95B5-59D9C10FA83D}" type="presParOf" srcId="{7D6848F0-C0BD-4634-978C-DE2117292FE1}" destId="{5A23FB73-C737-4A5F-98AF-7A79025A3905}" srcOrd="0" destOrd="0" presId="urn:microsoft.com/office/officeart/2018/2/layout/IconLabelList"/>
    <dgm:cxn modelId="{CB0E6495-C1AE-4D96-9FF9-C5C925877437}" type="presParOf" srcId="{7D6848F0-C0BD-4634-978C-DE2117292FE1}" destId="{1DDDF2D0-7DC0-4BCE-878C-706D549DA54C}" srcOrd="1" destOrd="0" presId="urn:microsoft.com/office/officeart/2018/2/layout/IconLabelList"/>
    <dgm:cxn modelId="{41DBC426-E93B-4551-81D5-1538C1707045}" type="presParOf" srcId="{7D6848F0-C0BD-4634-978C-DE2117292FE1}" destId="{9FEC6039-385E-4FDB-87C2-95F25B7A268F}" srcOrd="2" destOrd="0" presId="urn:microsoft.com/office/officeart/2018/2/layout/IconLabelList"/>
    <dgm:cxn modelId="{35110B63-6B9A-4B43-833A-BD73D669F73C}" type="presParOf" srcId="{5EE6A2A0-6243-45B3-A83B-D17F692450F6}" destId="{A2986BCA-6688-48E8-8961-BC5A2C267AF0}" srcOrd="11" destOrd="0" presId="urn:microsoft.com/office/officeart/2018/2/layout/IconLabelList"/>
    <dgm:cxn modelId="{FF99595B-03CA-4D03-9B80-36A63E915107}" type="presParOf" srcId="{5EE6A2A0-6243-45B3-A83B-D17F692450F6}" destId="{897ABF80-D93A-4306-9544-2BF397BD3EB3}" srcOrd="12" destOrd="0" presId="urn:microsoft.com/office/officeart/2018/2/layout/IconLabelList"/>
    <dgm:cxn modelId="{FE8865C3-50DE-41B0-9AED-F7B5C0BF5DC3}" type="presParOf" srcId="{897ABF80-D93A-4306-9544-2BF397BD3EB3}" destId="{388B5DE2-4121-41A0-A6EA-5568AEC38EBD}" srcOrd="0" destOrd="0" presId="urn:microsoft.com/office/officeart/2018/2/layout/IconLabelList"/>
    <dgm:cxn modelId="{4EAE6B32-5AFD-4125-8831-F3A6AFEF86AC}" type="presParOf" srcId="{897ABF80-D93A-4306-9544-2BF397BD3EB3}" destId="{25C9A094-387C-4779-AF4E-B5394388D186}" srcOrd="1" destOrd="0" presId="urn:microsoft.com/office/officeart/2018/2/layout/IconLabelList"/>
    <dgm:cxn modelId="{DEF4B5A4-39E8-489F-BFC2-FCE8E9912F82}" type="presParOf" srcId="{897ABF80-D93A-4306-9544-2BF397BD3EB3}" destId="{340D71EE-2598-4A77-8494-0AA6D4D7D7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C5F84-6CC0-46F3-9F00-C9368F0B27EC}">
      <dsp:nvSpPr>
        <dsp:cNvPr id="0" name=""/>
        <dsp:cNvSpPr/>
      </dsp:nvSpPr>
      <dsp:spPr>
        <a:xfrm>
          <a:off x="376372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12186-C7BC-4313-99D3-C39676ACC53A}">
      <dsp:nvSpPr>
        <dsp:cNvPr id="0" name=""/>
        <dsp:cNvSpPr/>
      </dsp:nvSpPr>
      <dsp:spPr>
        <a:xfrm>
          <a:off x="4638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Setup:</a:t>
          </a:r>
          <a:endParaRPr lang="en-US" sz="1100" kern="1200"/>
        </a:p>
      </dsp:txBody>
      <dsp:txXfrm>
        <a:off x="4638" y="1923858"/>
        <a:ext cx="1351757" cy="540703"/>
      </dsp:txXfrm>
    </dsp:sp>
    <dsp:sp modelId="{BA52A399-61EA-4715-905C-8FD54AF6E4F3}">
      <dsp:nvSpPr>
        <dsp:cNvPr id="0" name=""/>
        <dsp:cNvSpPr/>
      </dsp:nvSpPr>
      <dsp:spPr>
        <a:xfrm>
          <a:off x="1964687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93953-96A1-44CF-B633-45C780447494}">
      <dsp:nvSpPr>
        <dsp:cNvPr id="0" name=""/>
        <dsp:cNvSpPr/>
      </dsp:nvSpPr>
      <dsp:spPr>
        <a:xfrm>
          <a:off x="1592954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Hardware:</a:t>
          </a:r>
          <a:r>
            <a:rPr lang="en-US" sz="1100" kern="1200"/>
            <a:t> P100 GPU.</a:t>
          </a:r>
        </a:p>
      </dsp:txBody>
      <dsp:txXfrm>
        <a:off x="1592954" y="1923858"/>
        <a:ext cx="1351757" cy="540703"/>
      </dsp:txXfrm>
    </dsp:sp>
    <dsp:sp modelId="{4831684E-8295-44B1-9818-106C423A3DCA}">
      <dsp:nvSpPr>
        <dsp:cNvPr id="0" name=""/>
        <dsp:cNvSpPr/>
      </dsp:nvSpPr>
      <dsp:spPr>
        <a:xfrm>
          <a:off x="3553003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ED03B-EF68-4C5F-8DF3-AA2B7D85B7C0}">
      <dsp:nvSpPr>
        <dsp:cNvPr id="0" name=""/>
        <dsp:cNvSpPr/>
      </dsp:nvSpPr>
      <dsp:spPr>
        <a:xfrm>
          <a:off x="3181269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Duration:</a:t>
          </a:r>
          <a:r>
            <a:rPr lang="en-US" sz="1100" kern="1200"/>
            <a:t> 50 Epochs.</a:t>
          </a:r>
        </a:p>
      </dsp:txBody>
      <dsp:txXfrm>
        <a:off x="3181269" y="1923858"/>
        <a:ext cx="1351757" cy="540703"/>
      </dsp:txXfrm>
    </dsp:sp>
    <dsp:sp modelId="{A647353D-3B4A-4539-8410-1B44311C4B38}">
      <dsp:nvSpPr>
        <dsp:cNvPr id="0" name=""/>
        <dsp:cNvSpPr/>
      </dsp:nvSpPr>
      <dsp:spPr>
        <a:xfrm>
          <a:off x="5141318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89E63-45A4-438F-98BE-8A2003A62376}">
      <dsp:nvSpPr>
        <dsp:cNvPr id="0" name=""/>
        <dsp:cNvSpPr/>
      </dsp:nvSpPr>
      <dsp:spPr>
        <a:xfrm>
          <a:off x="4769585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Batch Size:</a:t>
          </a:r>
          <a:r>
            <a:rPr lang="en-US" sz="1100" kern="1200"/>
            <a:t> 32 Images.</a:t>
          </a:r>
        </a:p>
      </dsp:txBody>
      <dsp:txXfrm>
        <a:off x="4769585" y="1923858"/>
        <a:ext cx="1351757" cy="540703"/>
      </dsp:txXfrm>
    </dsp:sp>
    <dsp:sp modelId="{46850646-A6E8-466C-B62D-3ADFE67D40E1}">
      <dsp:nvSpPr>
        <dsp:cNvPr id="0" name=""/>
        <dsp:cNvSpPr/>
      </dsp:nvSpPr>
      <dsp:spPr>
        <a:xfrm>
          <a:off x="6729633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4319F-90CA-4404-AB7F-EE8D5CC6AEE7}">
      <dsp:nvSpPr>
        <dsp:cNvPr id="0" name=""/>
        <dsp:cNvSpPr/>
      </dsp:nvSpPr>
      <dsp:spPr>
        <a:xfrm>
          <a:off x="6357900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Loss Function:</a:t>
          </a:r>
          <a:endParaRPr lang="en-US" sz="1100" kern="1200"/>
        </a:p>
      </dsp:txBody>
      <dsp:txXfrm>
        <a:off x="6357900" y="1923858"/>
        <a:ext cx="1351757" cy="540703"/>
      </dsp:txXfrm>
    </dsp:sp>
    <dsp:sp modelId="{5A23FB73-C737-4A5F-98AF-7A79025A3905}">
      <dsp:nvSpPr>
        <dsp:cNvPr id="0" name=""/>
        <dsp:cNvSpPr/>
      </dsp:nvSpPr>
      <dsp:spPr>
        <a:xfrm>
          <a:off x="8317949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C6039-385E-4FDB-87C2-95F25B7A268F}">
      <dsp:nvSpPr>
        <dsp:cNvPr id="0" name=""/>
        <dsp:cNvSpPr/>
      </dsp:nvSpPr>
      <dsp:spPr>
        <a:xfrm>
          <a:off x="7946215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Dice Loss + Binary Cross Entropy (BCE)</a:t>
          </a:r>
          <a:r>
            <a:rPr lang="en-US" sz="1100" kern="1200"/>
            <a:t>.</a:t>
          </a:r>
        </a:p>
      </dsp:txBody>
      <dsp:txXfrm>
        <a:off x="7946215" y="1923858"/>
        <a:ext cx="1351757" cy="540703"/>
      </dsp:txXfrm>
    </dsp:sp>
    <dsp:sp modelId="{388B5DE2-4121-41A0-A6EA-5568AEC38EBD}">
      <dsp:nvSpPr>
        <dsp:cNvPr id="0" name=""/>
        <dsp:cNvSpPr/>
      </dsp:nvSpPr>
      <dsp:spPr>
        <a:xfrm>
          <a:off x="9906264" y="1101598"/>
          <a:ext cx="608291" cy="60829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D71EE-2598-4A77-8494-0AA6D4D7D7C2}">
      <dsp:nvSpPr>
        <dsp:cNvPr id="0" name=""/>
        <dsp:cNvSpPr/>
      </dsp:nvSpPr>
      <dsp:spPr>
        <a:xfrm>
          <a:off x="9534531" y="1923858"/>
          <a:ext cx="1351757" cy="54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Why?</a:t>
          </a:r>
          <a:r>
            <a:rPr lang="en-US" sz="1100" kern="1200"/>
            <a:t> Dice Loss prevents the model from ignoring small rivers (Class Imbalance).</a:t>
          </a:r>
        </a:p>
      </dsp:txBody>
      <dsp:txXfrm>
        <a:off x="9534531" y="1923858"/>
        <a:ext cx="1351757" cy="540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1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2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69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3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6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5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4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1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8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97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6F79BAF8-6D76-F4E6-FB3E-D1283CA8B7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688" r="9091" b="6167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7782D-8AF5-B902-DDFB-FB6AA1BF6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Map Area Calculation from Satellite Photo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75333-AF55-013F-8D30-44CD2AE96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Automated Water Body Segmentation &amp; Surface Area Estimation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053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987D7-1022-C888-E163-AF1F6094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Introduction &amp; Objective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7E26D-1947-A133-01DE-AC6486AA2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" y="2162314"/>
            <a:ext cx="6690360" cy="36646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The Goal: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+mj-lt"/>
              </a:rPr>
              <a:t>     Automate the analysis of Earth’s surface using satellite imagery.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+mj-lt"/>
              </a:rPr>
              <a:t>     Target Object: Water Bodies (Lakes, Rivers, Reservoirs).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+mj-lt"/>
              </a:rPr>
              <a:t>      Why Water? Critical resource for environmental monitoring; feasible proof-of-concept for area calculation.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The Challenge: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+mj-lt"/>
              </a:rPr>
              <a:t>     Manual mapping is slow and prone to human error.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+mj-lt"/>
              </a:rPr>
              <a:t>     Satellite images vary in lighting, resolution, and color channels.</a:t>
            </a:r>
          </a:p>
        </p:txBody>
      </p:sp>
      <p:pic>
        <p:nvPicPr>
          <p:cNvPr id="5" name="Picture 4" descr="Arial view of a river, dam and lake">
            <a:extLst>
              <a:ext uri="{FF2B5EF4-FFF2-40B4-BE49-F238E27FC236}">
                <a16:creationId xmlns:a16="http://schemas.microsoft.com/office/drawing/2014/main" id="{F91BED13-27A1-4082-A37B-F53C29323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24" r="14609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0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BCBE-20AF-D174-8987-B6E1639E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en-US" dirty="0"/>
              <a:t>Dataset &amp; Properties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5CBBD107-77AB-38C4-4A47-4F3D9DB1A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750"/>
            <a:ext cx="7501125" cy="13689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9F7C0-9D4E-2C9D-B15B-C73B34615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1125" y="2158253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Data Source:</a:t>
            </a:r>
            <a:r>
              <a:rPr lang="en-US" dirty="0">
                <a:latin typeface="+mj-lt"/>
              </a:rPr>
              <a:t> Sentinel-2 Satellite Imagery (Kaggle). </a:t>
            </a:r>
            <a:r>
              <a:rPr lang="en-US" b="1" dirty="0">
                <a:latin typeface="+mj-lt"/>
              </a:rPr>
              <a:t>Ground Sample Distance (GSD):</a:t>
            </a:r>
            <a:r>
              <a:rPr lang="en-US" dirty="0">
                <a:latin typeface="+mj-lt"/>
              </a:rPr>
              <a:t> 10 meters per pixel.</a:t>
            </a:r>
          </a:p>
          <a:p>
            <a:pPr>
              <a:lnSpc>
                <a:spcPct val="110000"/>
              </a:lnSpc>
            </a:pPr>
            <a:r>
              <a:rPr lang="en-US" i="1" dirty="0">
                <a:latin typeface="+mj-lt"/>
              </a:rPr>
              <a:t>This means 1 pixel = 100 square meters of real land.</a:t>
            </a:r>
            <a:r>
              <a:rPr lang="en-US" dirty="0">
                <a:latin typeface="+mj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Inputs:</a:t>
            </a:r>
            <a:endParaRPr lang="en-US" dirty="0">
              <a:latin typeface="+mj-lt"/>
            </a:endParaRPr>
          </a:p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Images:</a:t>
            </a:r>
            <a:r>
              <a:rPr lang="en-US" dirty="0">
                <a:latin typeface="+mj-lt"/>
              </a:rPr>
              <a:t> RGB Satellite Photos.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+mj-lt"/>
              </a:rPr>
              <a:t>Labels:</a:t>
            </a:r>
            <a:r>
              <a:rPr lang="en-US" dirty="0">
                <a:latin typeface="+mj-lt"/>
              </a:rPr>
              <a:t> Binary Masks (White = Water, Black = Land).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49E7-CF3A-2DD5-A24B-307E784A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00151"/>
            <a:ext cx="10890929" cy="1097280"/>
          </a:xfrm>
        </p:spPr>
        <p:txBody>
          <a:bodyPr/>
          <a:lstStyle/>
          <a:p>
            <a:r>
              <a:rPr lang="en-US" dirty="0"/>
              <a:t>Image Processing Pipeline (OpenCV)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8BAD-6D75-D78A-E10B-90CB3DAA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2091689"/>
            <a:ext cx="10890928" cy="3566160"/>
          </a:xfrm>
        </p:spPr>
        <p:txBody>
          <a:bodyPr>
            <a:noAutofit/>
          </a:bodyPr>
          <a:lstStyle/>
          <a:p>
            <a:r>
              <a:rPr lang="en-US" b="1" dirty="0">
                <a:latin typeface="+mj-lt"/>
              </a:rPr>
              <a:t>Preprocessing with OpenCV (cv2):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+mj-lt"/>
              </a:rPr>
              <a:t>Decoding</a:t>
            </a:r>
            <a:r>
              <a:rPr lang="en-US" dirty="0">
                <a:latin typeface="+mj-lt"/>
              </a:rPr>
              <a:t>: cv2.imread() to convert binary files into numerical matrices.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+mj-lt"/>
              </a:rPr>
              <a:t>Color Space Conversion:</a:t>
            </a:r>
          </a:p>
          <a:p>
            <a:r>
              <a:rPr lang="en-US" dirty="0">
                <a:latin typeface="+mj-lt"/>
              </a:rPr>
              <a:t>Problem: OpenCV loads as BGR (Blue-Green-Red).</a:t>
            </a:r>
          </a:p>
          <a:p>
            <a:r>
              <a:rPr lang="en-US" dirty="0">
                <a:latin typeface="+mj-lt"/>
              </a:rPr>
              <a:t>Solution: cv2.cvtColor(</a:t>
            </a:r>
            <a:r>
              <a:rPr lang="en-US" dirty="0" err="1">
                <a:latin typeface="+mj-lt"/>
              </a:rPr>
              <a:t>img</a:t>
            </a:r>
            <a:r>
              <a:rPr lang="en-US" dirty="0">
                <a:latin typeface="+mj-lt"/>
              </a:rPr>
              <a:t>, cv2.COLOR_BGR2RGB) to match human vision/AI expectations.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3.    Dimensionality Reduction:</a:t>
            </a:r>
          </a:p>
          <a:p>
            <a:r>
              <a:rPr lang="en-US" dirty="0">
                <a:latin typeface="+mj-lt"/>
              </a:rPr>
              <a:t>Loaded Masks as Grayscale (cv2.IMREAD_GRAYSCALE).</a:t>
            </a:r>
          </a:p>
          <a:p>
            <a:r>
              <a:rPr lang="en-US" dirty="0">
                <a:latin typeface="+mj-lt"/>
              </a:rPr>
              <a:t>Reduces 3D matrix (H x W x 3) to 2D matrix </a:t>
            </a:r>
            <a:r>
              <a:rPr lang="en-US" dirty="0"/>
              <a:t>(H x W )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4.    Resampling</a:t>
            </a:r>
            <a:r>
              <a:rPr lang="en-US" dirty="0">
                <a:latin typeface="+mj-lt"/>
              </a:rPr>
              <a:t>: Bicubic Interpolation to normalize all inputs to 256 x 256</a:t>
            </a:r>
            <a:r>
              <a:rPr lang="en-U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657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6F0B-CC2E-45F2-B0D3-9DF1F4FFD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3420F-D278-972F-DB17-4EDF59AC1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Deep Learning Approach:</a:t>
            </a:r>
            <a:r>
              <a:rPr lang="en-US" sz="2400" dirty="0"/>
              <a:t> Semantic Segmentation. </a:t>
            </a:r>
            <a:r>
              <a:rPr lang="en-US" sz="2400" b="1" dirty="0"/>
              <a:t>Architecture:</a:t>
            </a:r>
            <a:r>
              <a:rPr lang="en-US" sz="2400" dirty="0"/>
              <a:t> </a:t>
            </a:r>
            <a:r>
              <a:rPr lang="en-US" sz="2400" b="1" dirty="0"/>
              <a:t>U-Net</a:t>
            </a:r>
            <a:endParaRPr lang="en-US" sz="2400" dirty="0"/>
          </a:p>
          <a:p>
            <a:r>
              <a:rPr lang="en-US" sz="2400" b="1" dirty="0"/>
              <a:t>Encoder (Backbone):</a:t>
            </a:r>
            <a:r>
              <a:rPr lang="en-US" sz="2400" dirty="0"/>
              <a:t> </a:t>
            </a:r>
            <a:r>
              <a:rPr lang="en-US" sz="2400" b="1" dirty="0"/>
              <a:t>ResNet34</a:t>
            </a:r>
            <a:r>
              <a:rPr lang="en-US" sz="2400" dirty="0"/>
              <a:t> (Pretrained on ImageNet).</a:t>
            </a:r>
          </a:p>
          <a:p>
            <a:pPr lvl="1"/>
            <a:r>
              <a:rPr lang="en-US" sz="2400" dirty="0"/>
              <a:t>Extracts features (shapes, textures, edges).</a:t>
            </a:r>
          </a:p>
          <a:p>
            <a:r>
              <a:rPr lang="en-US" sz="2400" b="1" dirty="0"/>
              <a:t>Decoder:</a:t>
            </a:r>
            <a:r>
              <a:rPr lang="en-US" sz="2400" dirty="0"/>
              <a:t> </a:t>
            </a:r>
            <a:r>
              <a:rPr lang="en-US" sz="2400" dirty="0" err="1"/>
              <a:t>Upsamples</a:t>
            </a:r>
            <a:r>
              <a:rPr lang="en-US" sz="2400" dirty="0"/>
              <a:t> features to generate a pixel-perfect mask. </a:t>
            </a:r>
            <a:r>
              <a:rPr lang="en-US" sz="2400" b="1" dirty="0"/>
              <a:t>Why ResNet34?</a:t>
            </a:r>
            <a:endParaRPr lang="en-US" sz="2400" dirty="0"/>
          </a:p>
          <a:p>
            <a:r>
              <a:rPr lang="en-US" sz="2400" dirty="0"/>
              <a:t>Faster convergence than a standard CNN.</a:t>
            </a:r>
          </a:p>
          <a:p>
            <a:r>
              <a:rPr lang="en-US" sz="2400" dirty="0"/>
              <a:t>Prevents vanishing gradient problem in deep layers.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20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15BF-0C3B-CD3D-A5F9-D1B95F81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- Area Calculation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0E0866-61F3-F65E-1160-17F30159D1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239035"/>
            <a:ext cx="11685270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 Pixels to Kilometers: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core algorithm converts the segmentation mask into physical units.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Formula: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Given GSD = 10m: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 non-zero pixels in the predicted mask.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Multiply by 100 (10m </a:t>
            </a:r>
            <a:r>
              <a:rPr lang="en-US" altLang="en-US" sz="2400" dirty="0">
                <a:latin typeface="+mj-lt"/>
              </a:rPr>
              <a:t>x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Divide by 1,000,000 to convert m^2 to km^2.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D585F17-9C92-D716-1B1B-040D01855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77" y="3493770"/>
            <a:ext cx="6822484" cy="116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7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35CF-C03B-D507-1D6E-806B83C09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Configuration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CF7E2D2-6F44-B280-AD28-3F1A016210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31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5" name="Picture 4" descr="A blue ocean with green and white clouds&#10;&#10;AI-generated content may be incorrect.">
            <a:extLst>
              <a:ext uri="{FF2B5EF4-FFF2-40B4-BE49-F238E27FC236}">
                <a16:creationId xmlns:a16="http://schemas.microsoft.com/office/drawing/2014/main" id="{50C561E5-1C8A-29D7-136F-54ACB85B4E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8" r="-2" b="-2"/>
          <a:stretch>
            <a:fillRect/>
          </a:stretch>
        </p:blipFill>
        <p:spPr>
          <a:xfrm>
            <a:off x="-4704" y="10"/>
            <a:ext cx="56967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7017262-EEEC-4F5E-917D-A55E68A1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0375" y="-480370"/>
            <a:ext cx="4735963" cy="569671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77D7-AB0E-B04B-57F3-2E388487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9" y="1371601"/>
            <a:ext cx="4023360" cy="26714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Experimental Results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3EDAAA-869E-4AA2-A7CE-BF2C0259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18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30AE-91CC-4D77-43C9-8E8D37EE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2960" y="1031002"/>
            <a:ext cx="5696712" cy="5266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Performance Metrics (Final Evaluation):</a:t>
            </a:r>
            <a:endParaRPr lang="en-US" sz="2400" dirty="0"/>
          </a:p>
          <a:p>
            <a:r>
              <a:rPr lang="en-US" sz="2400" b="1" dirty="0"/>
              <a:t>Pixel Accuracy:</a:t>
            </a:r>
            <a:r>
              <a:rPr lang="en-US" sz="2400" dirty="0"/>
              <a:t> </a:t>
            </a:r>
            <a:r>
              <a:rPr lang="en-US" sz="2400" b="1" dirty="0"/>
              <a:t>94.51%</a:t>
            </a:r>
            <a:endParaRPr lang="en-US" sz="2400" dirty="0"/>
          </a:p>
          <a:p>
            <a:r>
              <a:rPr lang="en-US" sz="2400" b="1" dirty="0"/>
              <a:t>Validation Loss:</a:t>
            </a:r>
            <a:r>
              <a:rPr lang="en-US" sz="2400" dirty="0"/>
              <a:t> </a:t>
            </a:r>
            <a:r>
              <a:rPr lang="en-US" sz="2400" b="1" dirty="0"/>
              <a:t>0.1628</a:t>
            </a:r>
            <a:endParaRPr lang="en-US" sz="2400" dirty="0"/>
          </a:p>
          <a:p>
            <a:r>
              <a:rPr lang="en-US" sz="2400" b="1" dirty="0"/>
              <a:t>Mean </a:t>
            </a:r>
            <a:r>
              <a:rPr lang="en-US" sz="2400" b="1" dirty="0" err="1"/>
              <a:t>IoU</a:t>
            </a:r>
            <a:r>
              <a:rPr lang="en-US" sz="2400" b="1" dirty="0"/>
              <a:t> (</a:t>
            </a:r>
            <a:r>
              <a:rPr lang="en-US" sz="2400" b="1" dirty="0" err="1"/>
              <a:t>mIoU</a:t>
            </a:r>
            <a:r>
              <a:rPr lang="en-US" sz="2400" b="1" dirty="0"/>
              <a:t>):</a:t>
            </a:r>
            <a:r>
              <a:rPr lang="en-US" sz="2400" dirty="0"/>
              <a:t> </a:t>
            </a:r>
            <a:r>
              <a:rPr lang="en-US" sz="2400" b="1" dirty="0"/>
              <a:t>0.8441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Interpretation:</a:t>
            </a:r>
            <a:endParaRPr lang="en-US" sz="2400" dirty="0"/>
          </a:p>
          <a:p>
            <a:r>
              <a:rPr lang="en-US" sz="2400" dirty="0"/>
              <a:t>An </a:t>
            </a:r>
            <a:r>
              <a:rPr lang="en-US" sz="2400" dirty="0" err="1"/>
              <a:t>mIoU</a:t>
            </a:r>
            <a:r>
              <a:rPr lang="en-US" sz="2400" dirty="0"/>
              <a:t> of </a:t>
            </a:r>
            <a:r>
              <a:rPr lang="en-US" sz="2400" b="1" dirty="0"/>
              <a:t>0.84</a:t>
            </a:r>
            <a:r>
              <a:rPr lang="en-US" sz="2400" dirty="0"/>
              <a:t> is considered State-of-the-Art for satellite segmentation.</a:t>
            </a:r>
          </a:p>
          <a:p>
            <a:r>
              <a:rPr lang="en-US" sz="2400" dirty="0"/>
              <a:t>The model generalizes well to new, unseen images.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4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66CB2-A97D-E5C3-D830-91662361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6" y="962698"/>
            <a:ext cx="10890928" cy="971550"/>
          </a:xfrm>
        </p:spPr>
        <p:txBody>
          <a:bodyPr anchor="t">
            <a:normAutofit/>
          </a:bodyPr>
          <a:lstStyle/>
          <a:p>
            <a:r>
              <a:rPr lang="en-US" dirty="0"/>
              <a:t>Training Progress and Model Convergence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a training progress&#10;&#10;AI-generated content may be incorrect.">
            <a:extLst>
              <a:ext uri="{FF2B5EF4-FFF2-40B4-BE49-F238E27FC236}">
                <a16:creationId xmlns:a16="http://schemas.microsoft.com/office/drawing/2014/main" id="{F9F3F90B-1D51-7038-9FDA-9C214591F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" y="1656394"/>
            <a:ext cx="6279315" cy="49920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E4EDD-8DDA-8039-A5D7-E11EB9D5D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963" y="2002552"/>
            <a:ext cx="5719125" cy="4855448"/>
          </a:xfrm>
        </p:spPr>
        <p:txBody>
          <a:bodyPr anchor="t">
            <a:normAutofit fontScale="4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dirty="0"/>
              <a:t>This figure shows the </a:t>
            </a:r>
            <a:r>
              <a:rPr lang="en-US" sz="4200" b="1" dirty="0"/>
              <a:t>training and validation loss</a:t>
            </a:r>
            <a:r>
              <a:rPr lang="en-US" sz="4200" dirty="0"/>
              <a:t> over successive epochs.</a:t>
            </a:r>
            <a:br>
              <a:rPr lang="en-US" sz="4200" dirty="0"/>
            </a:br>
            <a:r>
              <a:rPr lang="en-US" sz="4200" dirty="0"/>
              <a:t>Both losses decrease rapidly during the early epochs, indicating that the model effectively learns relevant features for water segmentation from satellite images.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200" dirty="0"/>
              <a:t>After approximately </a:t>
            </a:r>
            <a:r>
              <a:rPr lang="en-US" sz="4200" b="1" dirty="0"/>
              <a:t>10–15 epochs</a:t>
            </a:r>
            <a:r>
              <a:rPr lang="en-US" sz="4200" dirty="0"/>
              <a:t>, the validation loss stabilizes while the training loss continues to decrease gradually. This behavior suggests:</a:t>
            </a:r>
          </a:p>
          <a:p>
            <a:pPr>
              <a:lnSpc>
                <a:spcPct val="110000"/>
              </a:lnSpc>
            </a:pPr>
            <a:r>
              <a:rPr lang="en-US" sz="4200" dirty="0"/>
              <a:t>Successful model convergence</a:t>
            </a:r>
          </a:p>
          <a:p>
            <a:pPr>
              <a:lnSpc>
                <a:spcPct val="110000"/>
              </a:lnSpc>
            </a:pPr>
            <a:r>
              <a:rPr lang="en-US" sz="4200" dirty="0"/>
              <a:t>No severe overfitting</a:t>
            </a:r>
          </a:p>
          <a:p>
            <a:pPr>
              <a:lnSpc>
                <a:spcPct val="110000"/>
              </a:lnSpc>
            </a:pPr>
            <a:r>
              <a:rPr lang="en-US" sz="4200" dirty="0"/>
              <a:t>Good generalization to unseen data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200" dirty="0"/>
              <a:t>The small gap between training and validation loss indicates that the model maintains a balanced learning process and avoids memorizing the training data.</a:t>
            </a:r>
          </a:p>
          <a:p>
            <a:pPr>
              <a:lnSpc>
                <a:spcPct val="11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5397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54F5-84B9-81E6-EF77-7B6DC39D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79" y="203201"/>
            <a:ext cx="10890929" cy="1097280"/>
          </a:xfrm>
        </p:spPr>
        <p:txBody>
          <a:bodyPr/>
          <a:lstStyle/>
          <a:p>
            <a:r>
              <a:rPr lang="en-US" dirty="0"/>
              <a:t>Visual Analysis (Qualitative)</a:t>
            </a:r>
          </a:p>
        </p:txBody>
      </p:sp>
      <p:pic>
        <p:nvPicPr>
          <p:cNvPr id="5" name="Content Placeholder 4" descr="A collage of different colored maps&#10;&#10;AI-generated content may be incorrect.">
            <a:extLst>
              <a:ext uri="{FF2B5EF4-FFF2-40B4-BE49-F238E27FC236}">
                <a16:creationId xmlns:a16="http://schemas.microsoft.com/office/drawing/2014/main" id="{855A8ADA-2F6B-FE4C-9FAA-6BDCE06E7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979" y="877137"/>
            <a:ext cx="5452627" cy="5777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8F798-5CB6-BB30-7448-A14FB328F787}"/>
              </a:ext>
            </a:extLst>
          </p:cNvPr>
          <p:cNvSpPr txBox="1"/>
          <p:nvPr/>
        </p:nvSpPr>
        <p:spPr>
          <a:xfrm>
            <a:off x="6162797" y="966038"/>
            <a:ext cx="587969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figure compares </a:t>
            </a:r>
            <a:r>
              <a:rPr lang="en-US" b="1" dirty="0"/>
              <a:t>satellite images</a:t>
            </a:r>
            <a:r>
              <a:rPr lang="en-US" dirty="0"/>
              <a:t>, </a:t>
            </a:r>
            <a:r>
              <a:rPr lang="en-US" b="1" dirty="0"/>
              <a:t>ground truth water masks</a:t>
            </a:r>
            <a:r>
              <a:rPr lang="en-US" dirty="0"/>
              <a:t>, and </a:t>
            </a:r>
            <a:r>
              <a:rPr lang="en-US" b="1" dirty="0"/>
              <a:t>AI-generated predictions</a:t>
            </a:r>
            <a:r>
              <a:rPr lang="en-US" dirty="0"/>
              <a:t> for three different regions.</a:t>
            </a:r>
            <a:br>
              <a:rPr lang="en-US" dirty="0"/>
            </a:br>
            <a:r>
              <a:rPr lang="en-US" dirty="0"/>
              <a:t>For each sample, the </a:t>
            </a:r>
            <a:r>
              <a:rPr lang="en-US" b="1" dirty="0"/>
              <a:t>water-covered area (km²)</a:t>
            </a:r>
            <a:r>
              <a:rPr lang="en-US" dirty="0"/>
              <a:t> is calculated from both the ground truth and the AI prediction.</a:t>
            </a:r>
          </a:p>
          <a:p>
            <a:r>
              <a:rPr lang="en-US" dirty="0"/>
              <a:t>The results show that the proposed approach is able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Accurately segment water bodies from satellite imagery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the overall shape and boundaries of water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 area estimates that are </a:t>
            </a:r>
            <a:r>
              <a:rPr lang="en-US" b="1" dirty="0"/>
              <a:t>close to the ground truth values</a:t>
            </a:r>
            <a:endParaRPr lang="en-US" dirty="0"/>
          </a:p>
          <a:p>
            <a:r>
              <a:rPr lang="en-US" dirty="0"/>
              <a:t>Small differences between ground truth and predictions are mainly caused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Irregular shorelines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 water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Resolution and pixel-level segmentation errors</a:t>
            </a:r>
          </a:p>
          <a:p>
            <a:r>
              <a:rPr lang="en-US" dirty="0"/>
              <a:t>Overall, the visual and numerical comparisons indicate that the model provides </a:t>
            </a:r>
            <a:r>
              <a:rPr lang="en-US" b="1" dirty="0"/>
              <a:t>reliable water area estimation</a:t>
            </a:r>
            <a:r>
              <a:rPr lang="en-US" dirty="0"/>
              <a:t> while maintaining low error margins.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673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0907E-67AF-F3AB-23B2-A4564FC3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Conclusion &amp; Future Scope</a:t>
            </a:r>
          </a:p>
        </p:txBody>
      </p:sp>
      <p:pic>
        <p:nvPicPr>
          <p:cNvPr id="5" name="Picture 4" descr="An aerial view of a sea&#10;&#10;AI-generated content may be incorrect.">
            <a:extLst>
              <a:ext uri="{FF2B5EF4-FFF2-40B4-BE49-F238E27FC236}">
                <a16:creationId xmlns:a16="http://schemas.microsoft.com/office/drawing/2014/main" id="{5C71EE0B-8CC5-021E-33AC-C713DD2CE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2" r="1" b="1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F891-670F-FAD9-90EC-FA2DCD0C9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4" y="2176036"/>
            <a:ext cx="4683797" cy="442426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Conclusion: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Successfully automated map area calculation using Deep Learning.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Proven accuracy (0.84 </a:t>
            </a:r>
            <a:r>
              <a:rPr lang="en-US" dirty="0" err="1"/>
              <a:t>mIoU</a:t>
            </a:r>
            <a:r>
              <a:rPr lang="en-US" dirty="0"/>
              <a:t>) and physical measurement reliability.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Future Scope: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Multi-Class:</a:t>
            </a:r>
            <a:r>
              <a:rPr lang="en-US" dirty="0"/>
              <a:t> Retrain to detect roads, buildings, and vegetation.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Cloud Removal:</a:t>
            </a:r>
            <a:r>
              <a:rPr lang="en-US" dirty="0"/>
              <a:t> Add a preprocessing step to filter out cloud cover.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Real-Time:</a:t>
            </a:r>
            <a:r>
              <a:rPr lang="en-US" dirty="0"/>
              <a:t> Deploy as a web app for instant map analysis.</a:t>
            </a:r>
          </a:p>
          <a:p>
            <a:pPr>
              <a:lnSpc>
                <a:spcPct val="11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6974978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755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Map Area Calculation from Satellite Photo</vt:lpstr>
      <vt:lpstr>Introduction &amp; Objective</vt:lpstr>
      <vt:lpstr>Dataset &amp; Properties</vt:lpstr>
      <vt:lpstr>Image Processing Pipeline (OpenCV)</vt:lpstr>
      <vt:lpstr>Model Architecture</vt:lpstr>
      <vt:lpstr>Methodology - Area Calculation</vt:lpstr>
      <vt:lpstr>Training Configuration</vt:lpstr>
      <vt:lpstr>Experimental Results</vt:lpstr>
      <vt:lpstr>Training Progress and Model Convergence</vt:lpstr>
      <vt:lpstr>Visual Analysis (Qualitative)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EMİNE GÜLEŞ</dc:creator>
  <cp:lastModifiedBy>EMİNE GÜLEŞ</cp:lastModifiedBy>
  <cp:revision>1</cp:revision>
  <dcterms:created xsi:type="dcterms:W3CDTF">2025-12-14T22:17:19Z</dcterms:created>
  <dcterms:modified xsi:type="dcterms:W3CDTF">2025-12-14T23:03:04Z</dcterms:modified>
</cp:coreProperties>
</file>